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0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630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
Regression</c:v>
                </c:pt>
                <c:pt idx="1">
                  <c:v>RF
(untuned)</c:v>
                </c:pt>
                <c:pt idx="2">
                  <c:v>XGBoost</c:v>
                </c:pt>
                <c:pt idx="3">
                  <c:v>RF
(tuned)</c:v>
                </c:pt>
                <c:pt idx="4">
                  <c:v>RF (tuned
+ SMOTE)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0.66490000000000005</c:v>
                </c:pt>
                <c:pt idx="1">
                  <c:v>0.63749999999999996</c:v>
                </c:pt>
                <c:pt idx="2">
                  <c:v>0.63329999999999997</c:v>
                </c:pt>
                <c:pt idx="3">
                  <c:v>0.66690000000000005</c:v>
                </c:pt>
                <c:pt idx="4">
                  <c:v>0.66620000000000001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9D-48FC-B93C-E0CBCF8615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8"/>
          <c:min val="0.6"/>
        </c:scaling>
        <c:delete val="0"/>
        <c:axPos val="l"/>
        <c:majorGridlines>
          <c:spPr>
            <a:ln w="9525" cap="flat">
              <a:solidFill>
                <a:srgbClr val="E6EE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Default (0.5)</c:v>
                </c:pt>
                <c:pt idx="1">
                  <c:v>Lowered (~0.39)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0.66400000000000003</c:v>
                </c:pt>
                <c:pt idx="1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F3-4B10-875A-72AA7BFCC6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C7DAD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Default (0.5)</c:v>
                </c:pt>
                <c:pt idx="1">
                  <c:v>Lowered (~0.39)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0.622</c:v>
                </c:pt>
                <c:pt idx="1">
                  <c:v>0.56499999999999995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F3-4B10-875A-72AA7BFCC6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9525" cap="flat">
              <a:solidFill>
                <a:srgbClr val="E6EE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6302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308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HealthConnect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97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Patient No-Shows with Data &amp; Machine Learning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520440"/>
            <a:ext cx="29260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Track  —  Final Presentation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E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Experience Lab  •  Week 8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37616" y="4169663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 smtClean="0">
                <a:solidFill>
                  <a:srgbClr val="AF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SUNDAY UMANA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appointments waste clinic capacity and disrupt patient care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937760" cy="4023360"/>
          </a:xfrm>
          <a:prstGeom prst="roundRect">
            <a:avLst>
              <a:gd name="adj" fmla="val 272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4048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appointments in the shared HealthConnect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ended in a no-show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9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synthetic dataset — far higher than a real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B9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clinic, but useful for building the approach)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1993392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at risk?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30428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scheduled patients are likely to miss their appointment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3227832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3154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53872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slot is wasted capacity; a flagged patient just needs a reminder call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4462272"/>
            <a:ext cx="320040" cy="3200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4389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4773168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and validate the predictive model behind that decision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Journey: Week 5 → Week 8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built on evidence from the last — nothing rebuilt from scratch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057400" y="3520440"/>
            <a:ext cx="8366760" cy="0"/>
          </a:xfrm>
          <a:prstGeom prst="line">
            <a:avLst/>
          </a:prstGeom>
          <a:noFill/>
          <a:ln w="25400">
            <a:solidFill>
              <a:srgbClr val="C9DED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22960" y="23774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0.628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11880" y="23774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tuned: 0.667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refined: 0.677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89720" y="237744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8972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36118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off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5: The Baseline Told Us Something Important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with a 3-class Logistic Regression model:
</a:t>
            </a: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vs. No-Show vs. Cancelled.
The result was barely better than guessing — and the Cancelled class was essentially unpredictable.
</a:t>
            </a: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told me the 3-class formulation itself was the problem, not just the model.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92240" y="1463040"/>
            <a:ext cx="1737360" cy="2103120"/>
          </a:xfrm>
          <a:prstGeom prst="roundRect">
            <a:avLst>
              <a:gd name="adj" fmla="val 5263"/>
            </a:avLst>
          </a:prstGeom>
          <a:solidFill>
            <a:srgbClr val="F1F7F6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0" y="16916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0.628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24688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(barely above 0.5)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366760" y="1463040"/>
            <a:ext cx="1737360" cy="2103120"/>
          </a:xfrm>
          <a:prstGeom prst="roundRect">
            <a:avLst>
              <a:gd name="adj" fmla="val 5263"/>
            </a:avLst>
          </a:prstGeom>
          <a:solidFill>
            <a:srgbClr val="F1F7F6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66760" y="16916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46.0%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458200" y="24688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 dummy baseline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241280" y="1463040"/>
            <a:ext cx="1737360" cy="2103120"/>
          </a:xfrm>
          <a:prstGeom prst="roundRect">
            <a:avLst>
              <a:gd name="adj" fmla="val 5263"/>
            </a:avLst>
          </a:prstGeom>
          <a:solidFill>
            <a:srgbClr val="F1F7F6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0" y="16916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0" y="24688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for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class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92240" y="384048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40233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drop the 3-class target. Move to binary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(Attended vs. No-Show) for Week 6.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6: Testing Model Families on the Binary Target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across five configurations — Random Forest (tuned) won, but only narrowly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74980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737360"/>
            <a:ext cx="3291840" cy="4297680"/>
          </a:xfrm>
          <a:prstGeom prst="roundRect">
            <a:avLst>
              <a:gd name="adj" fmla="val 2778"/>
            </a:avLst>
          </a:prstGeom>
          <a:solidFill>
            <a:srgbClr val="F1F7F6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9536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3774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made almost no difference — classes were already close to balanced (51% / 49%).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it rather than keep unnecessary complexity.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95360" y="4206240"/>
            <a:ext cx="2743200" cy="0"/>
          </a:xfrm>
          <a:prstGeom prst="line">
            <a:avLst/>
          </a:prstGeom>
          <a:noFill/>
          <a:ln w="12700">
            <a:solidFill>
              <a:srgbClr val="D8E9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95360" y="4389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Week 6 candidate: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tuned via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7: Stress-Testing the Result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number on one split isn't proof — so I tested whether it would hold 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1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08760" y="21031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0.677 ± 0.009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ROC-AUC — confirmed, not a lucky split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192024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1F7F6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2148840"/>
            <a:ext cx="457200" cy="457200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0" y="21031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0.057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834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gap found — mild overfitting, now monitored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1F7F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08760" y="42062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0.664 → 0.674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9377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improved after removing one weak, non-contributing feature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4023360"/>
            <a:ext cx="5257800" cy="1828800"/>
          </a:xfrm>
          <a:prstGeom prst="roundRect">
            <a:avLst>
              <a:gd name="adj" fmla="val 5000"/>
            </a:avLst>
          </a:prstGeom>
          <a:solidFill>
            <a:srgbClr val="F1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4251960"/>
            <a:ext cx="457200" cy="457200"/>
          </a:xfrm>
          <a:prstGeom prst="ellipse">
            <a:avLst/>
          </a:prstGeom>
          <a:solidFill>
            <a:srgbClr val="C144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0880" y="42062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9377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Specialist Consultation slots — the model's real weak spot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Cross-Track Collaboration: Data Analytics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exchange, not just a conversation — findings tested and acted on both ways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1549908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49908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204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Chi-square-validated findings: top features confirmed, plus a data leakage issue independently caught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3474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4293108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93108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063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5204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Analytics to statistically check my model's two weakest segments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3474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03504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7036308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36308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3063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5204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ruled out as real patterns (p=0.50, p=0.24) — saved wasted effort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474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77824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00A896"/>
          </a:solidFill>
          <a:ln/>
        </p:spPr>
      </p:sp>
      <p:sp>
        <p:nvSpPr>
          <p:cNvPr id="23" name="Shape 21"/>
          <p:cNvSpPr/>
          <p:nvPr/>
        </p:nvSpPr>
        <p:spPr>
          <a:xfrm>
            <a:off x="9779508" y="237744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79508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0" y="3063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352044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promising interaction feature was flagged instead — queued for testing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Trade-Off: Recall vs. Precision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the decision threshold catches far more true no-shows — an intentional business trade-off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82880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1828800"/>
            <a:ext cx="4480560" cy="4206240"/>
          </a:xfrm>
          <a:prstGeom prst="roundRect">
            <a:avLst>
              <a:gd name="adj" fmla="val 2174"/>
            </a:avLst>
          </a:prstGeom>
          <a:solidFill>
            <a:srgbClr val="0726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06640" y="2103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favour recall?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260604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no-show </a:t>
            </a:r>
            <a:r>
              <a:rPr lang="en-US" sz="1300" b="1" dirty="0">
                <a:solidFill>
                  <a:srgbClr val="9F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an entire wasted clinic slot.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alarm </a:t>
            </a:r>
            <a:r>
              <a:rPr lang="en-US" sz="1300" b="1" dirty="0">
                <a:solidFill>
                  <a:srgbClr val="9FD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just one extra reminder call.
</a:t>
            </a:r>
            <a:r>
              <a:rPr lang="en-US" sz="1250" i="1" dirty="0">
                <a:solidFill>
                  <a:srgbClr val="D9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an independent split too — the direction held, though the exact recall shifted (0.887→0.83), so it's presented as a realistic range, not a fixed promise.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Fits the HealthConnect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one link in a coordinated, multi-track chain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F1F7F6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patterns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shared data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31089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1546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patterns into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FB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tested prediction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4023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31089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72200" y="237744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F1F7F6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1546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the model into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usable pipeline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31089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15400" y="237744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F1F7F6"/>
          </a:solidFill>
          <a:ln w="12700">
            <a:solidFill>
              <a:srgbClr val="D8E9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52560" y="2606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+ PM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315468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patient comms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coordination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846320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98348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staff spend limited follow-up time — calls, reminders, overbooking safeguards — on the patients most statistically likely to miss, instead of treating every appointment the same.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Model Can—and Can't—Do Yet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663440"/>
          </a:xfrm>
          <a:prstGeom prst="roundRect">
            <a:avLst>
              <a:gd name="adj" fmla="val 1961"/>
            </a:avLst>
          </a:prstGeom>
          <a:solidFill>
            <a:srgbClr val="EAF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Advisory flagging — helping staff prioritise reminder calls
• Overbooking safeguards on high-risk slots
• A documented, tested baseline for further iteration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BEFE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4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ready for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5740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Fully automated action (e.g. auto-cancelling a slot)
• Specialist Consultation scheduling specifically — weakest segment, highest cost to miss
• Real deployment — all validation is on synthetic data (~51% no-show rate)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work isn't getting a good number 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testing whether that number holds up.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023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217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Experience Lab  •  Data Science Track  •  #AnalystLabAfrica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784</Words>
  <Application>Microsoft Office PowerPoint</Application>
  <PresentationFormat>Widescreen</PresentationFormat>
  <Paragraphs>128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Edwin Sunday Umana</cp:lastModifiedBy>
  <cp:revision>3</cp:revision>
  <dcterms:created xsi:type="dcterms:W3CDTF">2026-09-26T03:15:21Z</dcterms:created>
  <dcterms:modified xsi:type="dcterms:W3CDTF">2026-09-26T05:31:39Z</dcterms:modified>
</cp:coreProperties>
</file>